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87752" cy="2011680"/>
          </a:xfrm>
          <a:prstGeom prst="rect">
            <a:avLst/>
          </a:prstGeom>
          <a:solidFill>
            <a:srgbClr val="162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182880"/>
            <a:ext cx="1554480" cy="1554480"/>
          </a:xfrm>
          <a:prstGeom prst="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DE80"/>
                </a:solidFill>
              </a:rPr>
              <a:t>[ LOGO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LAPORAN PROYEK SISTEM INFORMASI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SISTEM TABUNGAN QURBAN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ADE80"/>
                </a:solidFill>
              </a:rPr>
              <a:t>Berbasis Web — React · Node.js · MongoDB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337560"/>
            <a:ext cx="45720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47472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Platform digital pengelolaan tabungan qurban masjid — memungkinkan jamaah menyetor secara bertahap, admin memantau kelompok, dan sistem pembayaran berjalan otomatis.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577840"/>
            <a:ext cx="27432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669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Tahun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253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5577840"/>
            <a:ext cx="27432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5669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9253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Web App (SPA)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5577840"/>
            <a:ext cx="27432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5669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Stack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9253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React + Express + 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Daftar 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Struktur presentasi proyek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50292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087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Latar Belakang &amp; Tujuan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50292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860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Ruang Lingkup &amp; Fitur Sistem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17520"/>
            <a:ext cx="50292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01752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632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Arsitektur Sistem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94760"/>
            <a:ext cx="50292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9476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404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Entity Relationship Diagram (ERD)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72000"/>
            <a:ext cx="50292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7200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6177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Logical Relational Schema (LRS)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349240"/>
            <a:ext cx="50292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4924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949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Class Diagram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463040"/>
            <a:ext cx="50292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46304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15087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Activity Diagram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240280"/>
            <a:ext cx="50292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24028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28600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Sequence Diagram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017520"/>
            <a:ext cx="50292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01752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0632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Desain Antarmuka (UI)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794760"/>
            <a:ext cx="50292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79476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84048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Teknologi &amp; Implementasi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572000"/>
            <a:ext cx="50292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57200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46177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Pengujian Sistem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5349240"/>
            <a:ext cx="50292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534924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53949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Kesimpulan &amp; Saran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Latar Belakang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Permasalahan yang mendorong pengembangan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4864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73152" cy="2011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733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</a:rPr>
              <a:t>Pencatatan Manual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Tabungan qurban masih dicatat di buku/Excel — rawan kesalahan dan sulit diaudit.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54864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73152" cy="2011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733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</a:rPr>
              <a:t>Transparansi Kurang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Jamaah tidak bisa memantau saldo &amp; status tabungan secara mandiri.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40"/>
            <a:ext cx="54864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49040"/>
            <a:ext cx="73152" cy="2011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13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</a:rPr>
              <a:t>Koordinasi Kelompok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976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Pengelompokan 7 anggota per sapi dilakukan manual tanpa sistem otomatis.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749040"/>
            <a:ext cx="54864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49040"/>
            <a:ext cx="73152" cy="2011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9136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DE80"/>
                </a:solidFill>
              </a:rPr>
              <a:t>Pembayaran Tunai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976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Setoran tunai sulit dilacak; tidak ada bukti digital yang tersentralisasi.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17920"/>
            <a:ext cx="1124712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Tujuan: Membangun sistem informasi berbasis web yang memudahkan pengelolaan tabungan qurban secara digital, transparan, dan terintegrasi dengan pembayaran online.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Ruang Lingkup &amp; Fitur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Fungsionalitas utama berdasarkan peran pengguna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3749039" cy="4754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</a:rPr>
              <a:t>Jamaah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38528"/>
            <a:ext cx="3749039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109728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Registrasi &amp; login akun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898648"/>
            <a:ext cx="109728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614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Ajukan bergabung kelompok qurban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557016"/>
            <a:ext cx="109728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1985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Pantau saldo &amp; progres tabungan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215384"/>
            <a:ext cx="109728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7822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Bayar via VA / QRIS / e-wallet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873752"/>
            <a:ext cx="109728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3659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Lihat kwitansi digital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532120"/>
            <a:ext cx="109728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394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Notifikasi in-app &amp; WhatsApp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463040"/>
            <a:ext cx="3749039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1463040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</a:rPr>
              <a:t>Admin Biasa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1938528"/>
            <a:ext cx="3749039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2240280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Kelola data jamaah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898648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60" y="27614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Terima / tolak permintaan gabung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3557016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341985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Tempatkan jamaah ke kelompok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4215384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407822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Rekap transaksi harian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4873752"/>
            <a:ext cx="109728" cy="1097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473659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Kirim notifikasi manual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80" y="1463040"/>
            <a:ext cx="3749039" cy="4754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1463040"/>
            <a:ext cx="37490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F172A"/>
                </a:solidFill>
              </a:rPr>
              <a:t>Kepala Admin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80" y="1938528"/>
            <a:ext cx="3749039" cy="457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6760" y="2240280"/>
            <a:ext cx="109728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6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Semua akses Admin Biasa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60" y="2898648"/>
            <a:ext cx="109728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27614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Buat &amp; hapus kelompok qurban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66760" y="3557016"/>
            <a:ext cx="109728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341985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Kelola akun admin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60" y="4215384"/>
            <a:ext cx="109728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60" y="407822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Laporan keuangan lengkap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60" y="4873752"/>
            <a:ext cx="109728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60" y="473659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Pengaturan sistem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Arsitektur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3-tier architecture: Presentation · Business Logic ·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356616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Presentation Tier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11680"/>
            <a:ext cx="356616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React 18 + Vite
Tailwind CSS · Framer Motion
React Router DOM
Axios · React Hook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0792" y="352044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508760"/>
            <a:ext cx="356616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508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Business Logic Tier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2011680"/>
            <a:ext cx="356616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19456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Node.js + Express.js
JWT Authentication
RBAC Middleware
Payment Service
WhatsApp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2" y="3520440"/>
            <a:ext cx="256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</a:rPr>
              <a:t>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508760"/>
            <a:ext cx="356616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508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Data Tier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2011680"/>
            <a:ext cx="356616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19456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MongoDB + Mongoose
$jsonSchema Validators
Collections:
jamaah · admin · sapi_qurban
transaksi · notifikasi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989320"/>
            <a:ext cx="1129284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1081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B6D4"/>
                </a:solidFill>
              </a:rPr>
              <a:t>Payment Gateway Sandbox  ·  Webhook HMAC-SHA256  ·  Virtual Account / QRIS / E-Wallet  ·  Notifikasi WhatsApp (Fonnte API)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Entity Relationship Diagram (ERD)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Relasi antar entitas pada basis data MongoDB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solidFill>
            <a:srgbClr val="1A2335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DE80"/>
                </a:solidFill>
              </a:rPr>
              <a:t>[ Sisipkan ERD di sini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DE80"/>
                </a:solidFill>
              </a:rPr>
              <a:t>Entitas: Admin · Jamaah · Sapi Qurban · Kelompok Qurban · Tabungan · Detail Kelompok · Permintaan Gabung · Transaksi · Notifikasi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Logical Relational Schema (LRS)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Pemetaan koleksi MongoDB ke skema relasional logis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solidFill>
            <a:srgbClr val="1A23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B6D4"/>
                </a:solidFill>
              </a:rPr>
              <a:t>[ Sisipkan LRS di sini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B6D4"/>
                </a:solidFill>
              </a:rPr>
              <a:t>Tabel: admin · jamaah · sapi_qurban · kelompok_qurban · tabungan_qurban · detail_kelompok · permintaan_gabung · transaksi · notifikasi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 Class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Struktur kelas model, controller, dan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5120640"/>
          </a:xfrm>
          <a:prstGeom prst="rect">
            <a:avLst/>
          </a:prstGeom>
          <a:solidFill>
            <a:srgbClr val="1A2335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BBF24"/>
                </a:solidFill>
              </a:rPr>
              <a:t>[ Sisipkan Class Diagram di sini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BBF24"/>
                </a:solidFill>
              </a:rPr>
              <a:t>Model · Controller · Service · Middleware · Utility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  Activity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Alur aktivitas proses utama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</a:rPr>
              <a:t>Registrasi &amp; Login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3566160" cy="4663440"/>
          </a:xfrm>
          <a:prstGeom prst="rect">
            <a:avLst/>
          </a:prstGeom>
          <a:solidFill>
            <a:srgbClr val="1A2335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840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[ Activity Diagram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2519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Registrasi Jamaah · Verifikasi Akun · Login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417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</a:rPr>
              <a:t>Setoran &amp; Pembayaran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566160" cy="4663440"/>
          </a:xfrm>
          <a:prstGeom prst="rect">
            <a:avLst/>
          </a:prstGeom>
          <a:solidFill>
            <a:srgbClr val="1A2335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3840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[ Activity Diagram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2519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Pilih Metode · Checkout · Webhook · Update Saldo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417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DE80"/>
                </a:solidFill>
              </a:rPr>
              <a:t>Kelola Kelompok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828800"/>
            <a:ext cx="3566160" cy="4663440"/>
          </a:xfrm>
          <a:prstGeom prst="rect">
            <a:avLst/>
          </a:prstGeom>
          <a:solidFill>
            <a:srgbClr val="1A2335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3840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[ Activity Diagram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42519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Buat Kelompok · Terima Anggota · Billing Aktif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08  Sequence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Interaksi antar objek untuk skenario utama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Login &amp; Autentikasi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3566160" cy="4663440"/>
          </a:xfrm>
          <a:prstGeom prst="rect">
            <a:avLst/>
          </a:prstGeom>
          <a:solidFill>
            <a:srgbClr val="1A23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840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[ Sequence Diagram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2519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Jamaah → Frontend → API → MongoDB → JWT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417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Proses Pembayaran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828800"/>
            <a:ext cx="3566160" cy="4663440"/>
          </a:xfrm>
          <a:prstGeom prst="rect">
            <a:avLst/>
          </a:prstGeom>
          <a:solidFill>
            <a:srgbClr val="1A23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3840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[ Sequence Diagram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42519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Jamaah → Checkout → Payment GW → Webhook →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417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Notifikasi Penempatan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828800"/>
            <a:ext cx="3566160" cy="4663440"/>
          </a:xfrm>
          <a:prstGeom prst="rect">
            <a:avLst/>
          </a:prstGeom>
          <a:solidFill>
            <a:srgbClr val="1A23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38404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[ Sequence Diagram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42519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Admin → Terima Permintaan → WhatsApp + In-App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Diagram Tambahan — Use Case &amp; Lainnya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Ruang untuk diagram tambahan sesuai kebutuhan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Use Case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5486400" cy="4663440"/>
          </a:xfrm>
          <a:prstGeom prst="rect">
            <a:avLst/>
          </a:prstGeom>
          <a:solidFill>
            <a:srgbClr val="1A2335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3840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[ Use Case Diagram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Jamaah · Admin Biasa · Kepala 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Diagram Lainnya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828800"/>
            <a:ext cx="5486400" cy="4663440"/>
          </a:xfrm>
          <a:prstGeom prst="rect">
            <a:avLst/>
          </a:prstGeom>
          <a:solidFill>
            <a:srgbClr val="1A2335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3840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[ Diagram Lainnya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</a:rPr>
              <a:t>[ Tambahkan diagram sesuai kebutuhan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09  Desain Antarmuka (UI)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Tampilan halaman utama aplikasi web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3657600" cy="1874520"/>
          </a:xfrm>
          <a:prstGeom prst="rect">
            <a:avLst/>
          </a:prstGeom>
          <a:solidFill>
            <a:srgbClr val="1A2335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0802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[ Screenshot: Landing Page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918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Landing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66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Beranda publik dengan marquee pembayaran live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657600" cy="1874520"/>
          </a:xfrm>
          <a:prstGeom prst="rect">
            <a:avLst/>
          </a:prstGeom>
          <a:solidFill>
            <a:srgbClr val="1A2335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0802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[ Screenshot: Login / Register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2918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Login / Register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566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Form 2-langkah wizard dengan password strength meter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1463040"/>
            <a:ext cx="3657600" cy="1874520"/>
          </a:xfrm>
          <a:prstGeom prst="rect">
            <a:avLst/>
          </a:prstGeom>
          <a:solidFill>
            <a:srgbClr val="1A2335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0802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[ Screenshot: Dashboard Jamaah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32918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Dashboard Jamaah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356616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Progres tabungan, riwayat transaksi, notifikasi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069080"/>
            <a:ext cx="3657600" cy="1874520"/>
          </a:xfrm>
          <a:prstGeom prst="rect">
            <a:avLst/>
          </a:prstGeom>
          <a:solidFill>
            <a:srgbClr val="1A2335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46863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[ Screenshot: Dashboard Admin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8978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Dashboard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1722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Rekap kelompok, manajemen jamaah, laporan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069080"/>
            <a:ext cx="3657600" cy="1874520"/>
          </a:xfrm>
          <a:prstGeom prst="rect">
            <a:avLst/>
          </a:prstGeom>
          <a:solidFill>
            <a:srgbClr val="1A2335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46863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[ Screenshot: Halaman Pembayaran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58978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Halaman Pembayaran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61722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Checkout VA / QRIS / e-wallet + kwitansi digital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4069080"/>
            <a:ext cx="3657600" cy="1874520"/>
          </a:xfrm>
          <a:prstGeom prst="rect">
            <a:avLst/>
          </a:prstGeom>
          <a:solidFill>
            <a:srgbClr val="1A2335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46863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</a:rPr>
              <a:t>[ Screenshot: Manajemen Kelompok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58978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Manajemen Kelompok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617220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Status kelompok, daftar anggota, billing gate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10  Teknologi &amp; Implementasi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Stack lengkap yang digunakan dalam pengembangan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356616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0876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47672"/>
            <a:ext cx="3566160" cy="4663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258568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103120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React 18.3 + Vite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63347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Tailwind CSS 3.4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319272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3163824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Framer Motion 12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849624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694176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React Router DOM 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379976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224528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React Hook Form 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910328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754880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Axios 1.7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440680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28523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React Toastify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971032"/>
            <a:ext cx="91440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5815584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@heroicons/react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508760"/>
            <a:ext cx="356616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150876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Backend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1947672"/>
            <a:ext cx="3566160" cy="46634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60" y="2258568"/>
            <a:ext cx="91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2103120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Node.js + Express.js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2788920"/>
            <a:ext cx="91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263347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MongoDB + Mongoose 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3319272"/>
            <a:ext cx="91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3163824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JWT (jsonwebtoken)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3849624"/>
            <a:ext cx="91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3694176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bcrypt 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4379976"/>
            <a:ext cx="91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8" y="4224528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Multer 2 + Cloudinary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4910328"/>
            <a:ext cx="91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1728" y="4754880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Express Validator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5440680"/>
            <a:ext cx="91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1728" y="528523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Node-cron (scheduler)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5971032"/>
            <a:ext cx="91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81728" y="5815584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Dotenv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83880" y="1508760"/>
            <a:ext cx="3566160" cy="43891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150876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Infrastruktur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80" y="1947672"/>
            <a:ext cx="3566160" cy="4663440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66760" y="2258568"/>
            <a:ext cx="914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67928" y="2103120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MongoDB Atlas / Self-hosted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66760" y="2788920"/>
            <a:ext cx="914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67928" y="263347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Payment Gateway Sandbox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66760" y="3319272"/>
            <a:ext cx="914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67928" y="3163824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Fonnte WhatsApp API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66760" y="3849624"/>
            <a:ext cx="914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67928" y="3694176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HMAC-SHA256 Webhook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66760" y="4379976"/>
            <a:ext cx="914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67928" y="4224528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Git + GitHub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66760" y="4910328"/>
            <a:ext cx="914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67928" y="4754880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REST API Architecture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66760" y="5440680"/>
            <a:ext cx="914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67928" y="528523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RBAC Middleware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66760" y="5971032"/>
            <a:ext cx="914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67928" y="5815584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JWT Bearer Token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11  Pengujian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Hasil pengujian fungsional dan keamanan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508760"/>
            <a:ext cx="36576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508760"/>
            <a:ext cx="347472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0876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Skenario Uji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508760"/>
            <a:ext cx="82296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508760"/>
            <a:ext cx="822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1508760"/>
            <a:ext cx="640080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508760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Keterangan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1947672"/>
            <a:ext cx="36576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9842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1947672"/>
            <a:ext cx="347472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19842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Autentikasi &amp; Otorisasi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947672"/>
            <a:ext cx="82296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98424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1947672"/>
            <a:ext cx="64008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19842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JWT valid, expired token ditolak, RBAC sesuai peran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2386584"/>
            <a:ext cx="36576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423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2386584"/>
            <a:ext cx="347472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423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Registrasi Pengguna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60" y="2386584"/>
            <a:ext cx="82296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24231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2386584"/>
            <a:ext cx="640080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24231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Validasi form, username unik, hash password bcrypt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825496"/>
            <a:ext cx="36576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8620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2825496"/>
            <a:ext cx="347472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28620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Pembayaran VA / QRIS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2825496"/>
            <a:ext cx="82296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0" y="286207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4920" y="2825496"/>
            <a:ext cx="64008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28620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Checkout idempoten, webhook HMAC-SHA256 valid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3264408"/>
            <a:ext cx="36576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30098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3264408"/>
            <a:ext cx="347472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33009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Anti-Double Transaction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60" y="3264408"/>
            <a:ext cx="82296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97680" y="330098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74920" y="3264408"/>
            <a:ext cx="640080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120640" y="330098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Duplikat transaksi pending terdeteksi &amp; ditolak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3703320"/>
            <a:ext cx="36576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373989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3703320"/>
            <a:ext cx="347472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373989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Billing Gate (7 anggota)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51960" y="3703320"/>
            <a:ext cx="82296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97680" y="373989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74920" y="3703320"/>
            <a:ext cx="64008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120640" y="373989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Tagihan hanya aktif ketika kelompok penuh (7/7)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142232"/>
            <a:ext cx="36576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1788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7240" y="4142232"/>
            <a:ext cx="347472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" y="41788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Notifikasi WhatsApp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51960" y="4142232"/>
            <a:ext cx="82296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97680" y="417880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74920" y="4142232"/>
            <a:ext cx="640080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20640" y="417880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Pesan terkirim via Fonnte API / mode simulasi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4581144"/>
            <a:ext cx="36576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4617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" y="4581144"/>
            <a:ext cx="347472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46177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Notifikasi In-App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51960" y="4581144"/>
            <a:ext cx="82296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97680" y="46177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4581144"/>
            <a:ext cx="64008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120640" y="4617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Badge unread, polling 30 s, mark-read on open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5020056"/>
            <a:ext cx="36576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0566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7240" y="5020056"/>
            <a:ext cx="347472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960" y="50566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Marquee Real-time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51960" y="5020056"/>
            <a:ext cx="82296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97680" y="5056632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74920" y="5020056"/>
            <a:ext cx="640080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120640" y="505663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Polling 5 s, antrian prioritas, format tanggal/jam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5458968"/>
            <a:ext cx="36576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549554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77240" y="5458968"/>
            <a:ext cx="347472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2960" y="54955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Keamanan Input (XSS/SQLi)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51960" y="5458968"/>
            <a:ext cx="82296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97680" y="5495544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5458968"/>
            <a:ext cx="64008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20640" y="549554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Express Validator + Mongoose schema sanitization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5897880"/>
            <a:ext cx="36576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7200" y="593445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" y="5897880"/>
            <a:ext cx="347472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2960" y="59344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Zero npm Vulnerabilities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251960" y="5897880"/>
            <a:ext cx="82296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297680" y="5934456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ADE80"/>
                </a:solidFill>
              </a:rP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074920" y="5897880"/>
            <a:ext cx="6400800" cy="438912"/>
          </a:xfrm>
          <a:prstGeom prst="rect">
            <a:avLst/>
          </a:prstGeom>
          <a:solidFill>
            <a:srgbClr val="1A2335"/>
          </a:solidFill>
          <a:ln w="6350">
            <a:solidFill>
              <a:srgbClr val="2D3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120640" y="593445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npm audit clean setelah upgrade Vite 5 →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12  Kesimpulan &amp; Saran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</a:rPr>
              <a:t>Ringkasan hasil dan rekomendasi pengembangan lanjut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11064240" cy="25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530352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Kesimpulan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530352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84831"/>
            <a:ext cx="9144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Sistem berhasil mendigitalisasi pengelolaan tabungan qurban dari pencatatan manual ke platform web modern.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1"/>
            <a:ext cx="9144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88920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Arsitektur 3-tier (React · Express · MongoDB) memastikan skalabilitas dan pemisahan tanggung jawab yang baik.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39311"/>
            <a:ext cx="9144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Role-based access control (Jamaah · Admin Biasa · Kepala Admin) menjamin keamanan data antar pengguna.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16551"/>
            <a:ext cx="9144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Integrasi payment gateway + notifikasi WhatsApp meningkatkan kepercayaan dan kemudahan jamaah.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193791"/>
            <a:ext cx="9144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4846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Antarmuka premium dengan animasi Framer Motion memberikan pengalaman pengguna kelas SaaS.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463040"/>
            <a:ext cx="576072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1463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Saran Pengembangan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920240"/>
            <a:ext cx="5760720" cy="4206240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084831"/>
            <a:ext cx="91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0116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Integrasi payment gateway produksi (Midtrans / Xendit) untuk transaksi nyata.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743199"/>
            <a:ext cx="91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67004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Fitur laporan &amp; ekspor PDF/Excel untuk keperluan audit keuangan masjid.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401567"/>
            <a:ext cx="91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328416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Progressive Web App (PWA) agar dapat diakses offline via smartphone.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4059935"/>
            <a:ext cx="91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986784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Notifikasi push browser menggunakan Web Push API.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4718303"/>
            <a:ext cx="91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64515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Fitur rekap otomatis saat Idul Adha mendekat dengan email reminder.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5376671"/>
            <a:ext cx="9144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53035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Dashboard analitik dengan grafik tren tabungan per bulan/tahun.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457200"/>
            <a:ext cx="2286000" cy="2286000"/>
          </a:xfrm>
          <a:prstGeom prst="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1280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DE80"/>
                </a:solidFill>
              </a:rPr>
              <a:t>[ LOGO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116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ADE80"/>
                </a:solidFill>
              </a:rPr>
              <a:t>Sistem Tabungan Qurban — Platform Digital Pengelolaan Qurban Masjid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749039"/>
            <a:ext cx="3657600" cy="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Pertanyaan &amp; Diskusi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3484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</a:rPr>
              <a:t>Repository: github.com/pentest-acc/Tabungan-Qurban
Stack: React · Node.js · MongoDB · Tailwind CSS · Framer 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© 2026  Sistem Tabungan Qurban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